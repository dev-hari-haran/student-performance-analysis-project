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7" r:id="rId3"/>
    <p:sldId id="258" r:id="rId4"/>
    <p:sldId id="259" r:id="rId5"/>
    <p:sldId id="260" r:id="rId6"/>
    <p:sldId id="261" r:id="rId7"/>
    <p:sldId id="262" r:id="rId8"/>
    <p:sldId id="278" r:id="rId9"/>
    <p:sldId id="263" r:id="rId10"/>
    <p:sldId id="264" r:id="rId11"/>
    <p:sldId id="279" r:id="rId12"/>
    <p:sldId id="265" r:id="rId13"/>
    <p:sldId id="266" r:id="rId14"/>
    <p:sldId id="280" r:id="rId15"/>
    <p:sldId id="267" r:id="rId16"/>
    <p:sldId id="268" r:id="rId17"/>
    <p:sldId id="281" r:id="rId18"/>
    <p:sldId id="269" r:id="rId19"/>
    <p:sldId id="270" r:id="rId20"/>
    <p:sldId id="282" r:id="rId21"/>
    <p:sldId id="271" r:id="rId22"/>
    <p:sldId id="272" r:id="rId23"/>
    <p:sldId id="283" r:id="rId24"/>
    <p:sldId id="273" r:id="rId25"/>
    <p:sldId id="274" r:id="rId26"/>
    <p:sldId id="284" r:id="rId27"/>
    <p:sldId id="275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838" y="1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55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8F47-CACC-F561-E569-4596BD920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1BB6F-90EC-9219-E739-46D44DCE0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BC479-920A-FC92-2CD9-FD0840F6B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7D720-783C-DC73-3635-FA3029993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0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C13EF-17E5-5883-2A5A-BBA7094F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767CB-F2A3-7742-9832-2DB712D26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1F26D-26B4-CA31-C5FE-164357C2B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F76E0-46B0-0665-4720-DDE5DD125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31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CBD92-EFEF-308F-1029-74698044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CB28E-3C02-7CE4-55FF-B197B750A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2E720-DB7F-123B-C9F1-FD90D6EFA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2D4E5-FE74-4B23-3724-018117F87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66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2989-F346-996C-9610-56DC10E6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A8720-3F48-C452-3ECC-80E6C57A7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3C2D3-D267-FA4C-49D8-AE04DE338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E9E59-B496-72E8-20A5-652A107C1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5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78AB-FE7C-4ED1-F40A-D57CFEDB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79543-C9BF-F0F4-837B-CD192BFFD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C7598-BCE5-DB8F-D48C-D85CA7EF1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B9127-40D0-564A-7FE5-02C7891C34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27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2CE1-2882-9543-CBA8-1B11F0C9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EE0F8-5135-70F1-84FF-3B1D2ED2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684B6-5229-4E61-683A-36401DF38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D754F-03B4-31E8-9B38-064B2D3FB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46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B08C-3020-3CCC-AF92-0EE322CC1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3FEC0-C84C-021D-C38C-9C4EC2504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81255-23E5-3A3F-092B-55A5E8A49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72E18-586B-3E52-0363-D7B9CF0AF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87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86D0E-9DC0-1D34-90EE-35E8275C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1FC4A-F4AE-4E50-8DBB-BAFD86D14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EB1E1-7DD9-9D6D-BF33-AAE8C5F66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EEB05-B3C4-11FA-F372-9A1FA1F20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880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-365760" y="3474720"/>
            <a:ext cx="1645920" cy="164592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Eras Bold ITC" panose="020B0907030504020204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4200" dirty="0">
              <a:latin typeface="Eras Bold ITC" panose="020B090703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400" dirty="0">
                <a:solidFill>
                  <a:srgbClr val="BDD7EE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200" dirty="0">
              <a:latin typeface="Bodoni MT Black" panose="02070A030806060202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0" y="2423160"/>
            <a:ext cx="4572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Factors That Influence Academic Success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Alcohol Consumption (Kaggle)     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 · NumPy · Matplotlib · Seaborn · SciPy)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242C3A-A5A6-50FC-A8F1-5F465556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C29461-2729-3346-0EB5-BE50E0E0DF38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FD529A-A0C8-B4C9-E4A3-B5FC0BB096FF}"/>
              </a:ext>
            </a:extLst>
          </p:cNvPr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182D49-01C1-70F8-E6BC-60F4DDBA8093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B94746-E587-ECDD-F0D3-0FAD3069AB91}"/>
              </a:ext>
            </a:extLst>
          </p:cNvPr>
          <p:cNvSpPr/>
          <p:nvPr/>
        </p:nvSpPr>
        <p:spPr>
          <a:xfrm>
            <a:off x="320040" y="868680"/>
            <a:ext cx="4206240" cy="658368"/>
          </a:xfrm>
          <a:prstGeom prst="rect">
            <a:avLst/>
          </a:prstGeom>
          <a:solidFill>
            <a:srgbClr val="2E75B6">
              <a:alpha val="8000"/>
            </a:srgbClr>
          </a:solidFill>
          <a:ln w="1016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96D6D5-859B-329A-FAE0-F627F158B5A3}"/>
              </a:ext>
            </a:extLst>
          </p:cNvPr>
          <p:cNvSpPr/>
          <p:nvPr/>
        </p:nvSpPr>
        <p:spPr>
          <a:xfrm>
            <a:off x="320040" y="868680"/>
            <a:ext cx="384048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528AEB-2356-5873-C2DA-EE4FE79352B5}"/>
              </a:ext>
            </a:extLst>
          </p:cNvPr>
          <p:cNvSpPr/>
          <p:nvPr/>
        </p:nvSpPr>
        <p:spPr>
          <a:xfrm>
            <a:off x="320040" y="1033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C0B694-895E-A5B2-0EBE-2EDCD59F980B}"/>
              </a:ext>
            </a:extLst>
          </p:cNvPr>
          <p:cNvSpPr/>
          <p:nvPr/>
        </p:nvSpPr>
        <p:spPr>
          <a:xfrm>
            <a:off x="77724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1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B5BBD2A-4EFC-6316-498C-F6BC997357E9}"/>
              </a:ext>
            </a:extLst>
          </p:cNvPr>
          <p:cNvSpPr/>
          <p:nvPr/>
        </p:nvSpPr>
        <p:spPr>
          <a:xfrm>
            <a:off x="320040" y="1655064"/>
            <a:ext cx="4206240" cy="658368"/>
          </a:xfrm>
          <a:prstGeom prst="rect">
            <a:avLst/>
          </a:prstGeom>
          <a:solidFill>
            <a:srgbClr val="028090">
              <a:alpha val="8000"/>
            </a:srgbClr>
          </a:solidFill>
          <a:ln w="1016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08EE4A-95C7-688F-FA3D-4F273935C6AB}"/>
              </a:ext>
            </a:extLst>
          </p:cNvPr>
          <p:cNvSpPr/>
          <p:nvPr/>
        </p:nvSpPr>
        <p:spPr>
          <a:xfrm>
            <a:off x="320040" y="1655064"/>
            <a:ext cx="38404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48D997F-C862-26AA-3D5C-0A72DC3C402E}"/>
              </a:ext>
            </a:extLst>
          </p:cNvPr>
          <p:cNvSpPr/>
          <p:nvPr/>
        </p:nvSpPr>
        <p:spPr>
          <a:xfrm>
            <a:off x="32004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9A63C30-F13E-1083-6828-E0C9D5A85F3E}"/>
              </a:ext>
            </a:extLst>
          </p:cNvPr>
          <p:cNvSpPr/>
          <p:nvPr/>
        </p:nvSpPr>
        <p:spPr>
          <a:xfrm>
            <a:off x="77724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Preprocessing</a:t>
            </a:r>
            <a:endParaRPr lang="en-US" sz="11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7054FBF-BC90-62D3-46D8-A2B097E51611}"/>
              </a:ext>
            </a:extLst>
          </p:cNvPr>
          <p:cNvSpPr/>
          <p:nvPr/>
        </p:nvSpPr>
        <p:spPr>
          <a:xfrm>
            <a:off x="320040" y="2441448"/>
            <a:ext cx="4206240" cy="658368"/>
          </a:xfrm>
          <a:prstGeom prst="rect">
            <a:avLst/>
          </a:prstGeom>
          <a:solidFill>
            <a:srgbClr val="028090">
              <a:alpha val="8000"/>
            </a:srgbClr>
          </a:solidFill>
          <a:ln w="1016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E103310-BC6F-63F0-DA55-76E7BD70C8D6}"/>
              </a:ext>
            </a:extLst>
          </p:cNvPr>
          <p:cNvSpPr/>
          <p:nvPr/>
        </p:nvSpPr>
        <p:spPr>
          <a:xfrm>
            <a:off x="320040" y="2441448"/>
            <a:ext cx="38404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4463319-3C97-FB2B-143E-DCE2BCB15A00}"/>
              </a:ext>
            </a:extLst>
          </p:cNvPr>
          <p:cNvSpPr/>
          <p:nvPr/>
        </p:nvSpPr>
        <p:spPr>
          <a:xfrm>
            <a:off x="320040" y="26060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F91A7B6-E5C6-367E-5636-8343AFB15903}"/>
              </a:ext>
            </a:extLst>
          </p:cNvPr>
          <p:cNvSpPr/>
          <p:nvPr/>
        </p:nvSpPr>
        <p:spPr>
          <a:xfrm>
            <a:off x="777240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vs Academic Performance (Task 2)</a:t>
            </a:r>
            <a:endParaRPr lang="en-US" sz="11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DE37B93-355D-A45D-D1F6-34D1D6E3E89A}"/>
              </a:ext>
            </a:extLst>
          </p:cNvPr>
          <p:cNvSpPr/>
          <p:nvPr/>
        </p:nvSpPr>
        <p:spPr>
          <a:xfrm>
            <a:off x="320040" y="3227832"/>
            <a:ext cx="4206240" cy="658368"/>
          </a:xfrm>
          <a:prstGeom prst="rect">
            <a:avLst/>
          </a:prstGeom>
          <a:solidFill>
            <a:srgbClr val="238B45">
              <a:alpha val="8000"/>
            </a:srgbClr>
          </a:solidFill>
          <a:ln w="1016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CD2E721-D4DB-FB49-A4C4-2DDE21EE1615}"/>
              </a:ext>
            </a:extLst>
          </p:cNvPr>
          <p:cNvSpPr/>
          <p:nvPr/>
        </p:nvSpPr>
        <p:spPr>
          <a:xfrm>
            <a:off x="320040" y="3227832"/>
            <a:ext cx="384048" cy="65836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B83D9B3-D0CE-01AC-73E4-E3043F007BC2}"/>
              </a:ext>
            </a:extLst>
          </p:cNvPr>
          <p:cNvSpPr/>
          <p:nvPr/>
        </p:nvSpPr>
        <p:spPr>
          <a:xfrm>
            <a:off x="320040" y="339242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9970CFB-3C46-D0A0-3555-11218362419E}"/>
              </a:ext>
            </a:extLst>
          </p:cNvPr>
          <p:cNvSpPr/>
          <p:nvPr/>
        </p:nvSpPr>
        <p:spPr>
          <a:xfrm>
            <a:off x="77724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 Impact (Task 3)</a:t>
            </a:r>
            <a:endParaRPr lang="en-US" sz="11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AF12BE7-ED2E-027C-AA5F-0FC412065A05}"/>
              </a:ext>
            </a:extLst>
          </p:cNvPr>
          <p:cNvSpPr/>
          <p:nvPr/>
        </p:nvSpPr>
        <p:spPr>
          <a:xfrm>
            <a:off x="320040" y="4014216"/>
            <a:ext cx="4206240" cy="658368"/>
          </a:xfrm>
          <a:prstGeom prst="rect">
            <a:avLst/>
          </a:prstGeom>
          <a:solidFill>
            <a:srgbClr val="E8735A">
              <a:alpha val="8000"/>
            </a:srgbClr>
          </a:solidFill>
          <a:ln w="10160">
            <a:solidFill>
              <a:srgbClr val="E87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7E5368C-3D5B-6E27-4B75-B894ADBFF918}"/>
              </a:ext>
            </a:extLst>
          </p:cNvPr>
          <p:cNvSpPr/>
          <p:nvPr/>
        </p:nvSpPr>
        <p:spPr>
          <a:xfrm>
            <a:off x="320040" y="4014216"/>
            <a:ext cx="384048" cy="65836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CADC930-6B7F-7D6D-9346-97F763802D93}"/>
              </a:ext>
            </a:extLst>
          </p:cNvPr>
          <p:cNvSpPr/>
          <p:nvPr/>
        </p:nvSpPr>
        <p:spPr>
          <a:xfrm>
            <a:off x="320040" y="417880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BAACD10-E039-5154-891F-0943C392106D}"/>
              </a:ext>
            </a:extLst>
          </p:cNvPr>
          <p:cNvSpPr/>
          <p:nvPr/>
        </p:nvSpPr>
        <p:spPr>
          <a:xfrm>
            <a:off x="777240" y="4169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Analysis (Task 4)</a:t>
            </a:r>
            <a:endParaRPr lang="en-US" sz="11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D17CB5C-36C0-4959-CB1D-5CFA630864AC}"/>
              </a:ext>
            </a:extLst>
          </p:cNvPr>
          <p:cNvSpPr/>
          <p:nvPr/>
        </p:nvSpPr>
        <p:spPr>
          <a:xfrm>
            <a:off x="4800600" y="868680"/>
            <a:ext cx="4206240" cy="658368"/>
          </a:xfrm>
          <a:prstGeom prst="rect">
            <a:avLst/>
          </a:prstGeom>
          <a:solidFill>
            <a:srgbClr val="6A51A3">
              <a:alpha val="8000"/>
            </a:srgbClr>
          </a:solidFill>
          <a:ln w="10160">
            <a:solidFill>
              <a:srgbClr val="6A5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419D62F-9DFF-3BB5-4024-1C2B7C408109}"/>
              </a:ext>
            </a:extLst>
          </p:cNvPr>
          <p:cNvSpPr/>
          <p:nvPr/>
        </p:nvSpPr>
        <p:spPr>
          <a:xfrm>
            <a:off x="4800600" y="868680"/>
            <a:ext cx="384048" cy="658368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9033B5C-61E9-85D0-6CD3-2F7081F4C861}"/>
              </a:ext>
            </a:extLst>
          </p:cNvPr>
          <p:cNvSpPr/>
          <p:nvPr/>
        </p:nvSpPr>
        <p:spPr>
          <a:xfrm>
            <a:off x="4800600" y="1033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B1098D7-FA74-2D94-1252-00A7305475DA}"/>
              </a:ext>
            </a:extLst>
          </p:cNvPr>
          <p:cNvSpPr/>
          <p:nvPr/>
        </p:nvSpPr>
        <p:spPr>
          <a:xfrm>
            <a:off x="525780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(Task 5)</a:t>
            </a:r>
            <a:endParaRPr lang="en-US" sz="11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6067228-4407-0D8F-7F00-53CA58AA36E7}"/>
              </a:ext>
            </a:extLst>
          </p:cNvPr>
          <p:cNvSpPr/>
          <p:nvPr/>
        </p:nvSpPr>
        <p:spPr>
          <a:xfrm>
            <a:off x="4800600" y="1655064"/>
            <a:ext cx="4206240" cy="658368"/>
          </a:xfrm>
          <a:prstGeom prst="rect">
            <a:avLst/>
          </a:prstGeom>
          <a:solidFill>
            <a:srgbClr val="E67E22">
              <a:alpha val="8000"/>
            </a:srgbClr>
          </a:solidFill>
          <a:ln w="1016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C3A8810-462C-43C6-AA5E-34C930160F98}"/>
              </a:ext>
            </a:extLst>
          </p:cNvPr>
          <p:cNvSpPr/>
          <p:nvPr/>
        </p:nvSpPr>
        <p:spPr>
          <a:xfrm>
            <a:off x="4800600" y="1655064"/>
            <a:ext cx="384048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F71829F-EDB4-E83B-22F0-09D9255ABD19}"/>
              </a:ext>
            </a:extLst>
          </p:cNvPr>
          <p:cNvSpPr/>
          <p:nvPr/>
        </p:nvSpPr>
        <p:spPr>
          <a:xfrm>
            <a:off x="480060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AFAE5D3-8CB6-E834-18CE-437584E166D0}"/>
              </a:ext>
            </a:extLst>
          </p:cNvPr>
          <p:cNvSpPr/>
          <p:nvPr/>
        </p:nvSpPr>
        <p:spPr>
          <a:xfrm>
            <a:off x="525780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Impact Analysis (Task 6)</a:t>
            </a:r>
            <a:endParaRPr lang="en-US" sz="11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2AB2E1B-221E-0561-0592-8209BCDEF2A1}"/>
              </a:ext>
            </a:extLst>
          </p:cNvPr>
          <p:cNvSpPr/>
          <p:nvPr/>
        </p:nvSpPr>
        <p:spPr>
          <a:xfrm>
            <a:off x="4800600" y="2441448"/>
            <a:ext cx="4206240" cy="658368"/>
          </a:xfrm>
          <a:prstGeom prst="rect">
            <a:avLst/>
          </a:prstGeom>
          <a:solidFill>
            <a:srgbClr val="C0392B">
              <a:alpha val="8000"/>
            </a:srgbClr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93FBB37-3846-FBDE-5B1C-9D9D8231B871}"/>
              </a:ext>
            </a:extLst>
          </p:cNvPr>
          <p:cNvSpPr/>
          <p:nvPr/>
        </p:nvSpPr>
        <p:spPr>
          <a:xfrm>
            <a:off x="4800600" y="2441448"/>
            <a:ext cx="38404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FF01395-C260-3582-B9E1-43074C5499A6}"/>
              </a:ext>
            </a:extLst>
          </p:cNvPr>
          <p:cNvSpPr/>
          <p:nvPr/>
        </p:nvSpPr>
        <p:spPr>
          <a:xfrm>
            <a:off x="4800600" y="26060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101FE12-18C4-E9A6-D590-92DD6C3C48A5}"/>
              </a:ext>
            </a:extLst>
          </p:cNvPr>
          <p:cNvSpPr/>
          <p:nvPr/>
        </p:nvSpPr>
        <p:spPr>
          <a:xfrm>
            <a:off x="5257800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Testing (Task 7)</a:t>
            </a:r>
            <a:endParaRPr lang="en-US" sz="11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3B8DB14-275E-8939-9A7F-47FD0B109CD6}"/>
              </a:ext>
            </a:extLst>
          </p:cNvPr>
          <p:cNvSpPr/>
          <p:nvPr/>
        </p:nvSpPr>
        <p:spPr>
          <a:xfrm>
            <a:off x="4800600" y="3227832"/>
            <a:ext cx="4206240" cy="658368"/>
          </a:xfrm>
          <a:prstGeom prst="rect">
            <a:avLst/>
          </a:prstGeom>
          <a:solidFill>
            <a:srgbClr val="1E2761">
              <a:alpha val="8000"/>
            </a:srgbClr>
          </a:solidFill>
          <a:ln w="1016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7CC4E2B-2526-778B-B015-7FAE6291764C}"/>
              </a:ext>
            </a:extLst>
          </p:cNvPr>
          <p:cNvSpPr/>
          <p:nvPr/>
        </p:nvSpPr>
        <p:spPr>
          <a:xfrm>
            <a:off x="4800600" y="3227832"/>
            <a:ext cx="38404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B0B4554-1578-4740-46BF-3EF94C5B583F}"/>
              </a:ext>
            </a:extLst>
          </p:cNvPr>
          <p:cNvSpPr/>
          <p:nvPr/>
        </p:nvSpPr>
        <p:spPr>
          <a:xfrm>
            <a:off x="4800600" y="339242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1BF087F-B990-1691-A6B1-2A66791F6E24}"/>
              </a:ext>
            </a:extLst>
          </p:cNvPr>
          <p:cNvSpPr/>
          <p:nvPr/>
        </p:nvSpPr>
        <p:spPr>
          <a:xfrm>
            <a:off x="525780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1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17F94F8-2F18-A7CA-9730-7F85AEA37D09}"/>
              </a:ext>
            </a:extLst>
          </p:cNvPr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2 / 20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2430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54380"/>
            <a:ext cx="8503920" cy="1325880"/>
          </a:xfrm>
          <a:prstGeom prst="rect">
            <a:avLst/>
          </a:prstGeom>
          <a:solidFill>
            <a:srgbClr val="1E2761">
              <a:alpha val="8000"/>
            </a:srgbClr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88696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i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aim to improve student performance by identifying key factors that influence academic success. Student performance is affected by multiple variables — study habits, family background, lifestyle choices, and demographic factors — making it difficult to determine which factors have the most impact.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057400" cy="1737360"/>
          </a:xfrm>
          <a:prstGeom prst="rect">
            <a:avLst/>
          </a:prstGeom>
          <a:solidFill>
            <a:srgbClr val="2E75B6">
              <a:alpha val="10000"/>
            </a:srgbClr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05740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24712" y="2423160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24712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significantly affect student performance?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96312" y="2331720"/>
            <a:ext cx="2057400" cy="173736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96312" y="2331720"/>
            <a:ext cx="20574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00984" y="24231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00984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944368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increased study time improve grades?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72584" y="2331720"/>
            <a:ext cx="2057400" cy="1737360"/>
          </a:xfrm>
          <a:prstGeom prst="rect">
            <a:avLst/>
          </a:prstGeom>
          <a:solidFill>
            <a:srgbClr val="238B45">
              <a:alpha val="10000"/>
            </a:srgbClr>
          </a:solidFill>
          <a:ln w="1270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72584" y="2331720"/>
            <a:ext cx="2057400" cy="6400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77256" y="2423160"/>
            <a:ext cx="438912" cy="438912"/>
          </a:xfrm>
          <a:prstGeom prst="ellipse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77256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944368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parental education influence outcomes?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48856" y="2331720"/>
            <a:ext cx="2057400" cy="1737360"/>
          </a:xfrm>
          <a:prstGeom prst="rect">
            <a:avLst/>
          </a:prstGeom>
          <a:solidFill>
            <a:srgbClr val="E8735A">
              <a:alpha val="10000"/>
            </a:srgbClr>
          </a:solidFill>
          <a:ln w="12700">
            <a:solidFill>
              <a:srgbClr val="E87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48856" y="2331720"/>
            <a:ext cx="2057400" cy="6400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653528" y="2423160"/>
            <a:ext cx="438912" cy="438912"/>
          </a:xfrm>
          <a:prstGeom prst="ellipse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53528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944368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performance differences based on gender?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206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Perform data-driven analysis to provide actionable insights for educators.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3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 ·  Kaggle: uciml/student-alcohol-consumption  ·  Two CSV files: student-mat.csv &amp; student-por.csv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2996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029968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202996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027225"/>
            <a:ext cx="202996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students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417320"/>
            <a:ext cx="202996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29968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96312" y="1527048"/>
            <a:ext cx="202996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96312" y="2027225"/>
            <a:ext cx="202996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students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417320"/>
            <a:ext cx="202996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72584" y="1417320"/>
            <a:ext cx="2029968" cy="6400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72584" y="1527048"/>
            <a:ext cx="202996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72584" y="2027225"/>
            <a:ext cx="202996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columns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48856" y="1417320"/>
            <a:ext cx="2029968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48856" y="1417320"/>
            <a:ext cx="2029968" cy="6400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48856" y="1527048"/>
            <a:ext cx="2029968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48856" y="2027225"/>
            <a:ext cx="2029968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(Final Grade)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1920240" cy="365760"/>
          </a:xfrm>
          <a:prstGeom prst="rect">
            <a:avLst/>
          </a:prstGeom>
          <a:solidFill>
            <a:srgbClr val="2E75B6">
              <a:alpha val="12000"/>
            </a:srgbClr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269748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2633472"/>
            <a:ext cx="6492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423160" y="26974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address, school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063240"/>
            <a:ext cx="1920240" cy="365760"/>
          </a:xfrm>
          <a:prstGeom prst="rect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312724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31720" y="3063240"/>
            <a:ext cx="6492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423160" y="31272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Medu, Fedu, Pstatus, famsize, famrel, famsup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493008"/>
            <a:ext cx="1920240" cy="365760"/>
          </a:xfrm>
          <a:prstGeom prst="rect">
            <a:avLst/>
          </a:prstGeom>
          <a:solidFill>
            <a:srgbClr val="238B45">
              <a:alpha val="12000"/>
            </a:srgbClr>
          </a:solidFill>
          <a:ln w="635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7472" y="355701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Habits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31720" y="3493008"/>
            <a:ext cx="6492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423160" y="355701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studytime, failures, schoolsup, paid, higher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922776"/>
            <a:ext cx="1920240" cy="365760"/>
          </a:xfrm>
          <a:prstGeom prst="rect">
            <a:avLst/>
          </a:prstGeom>
          <a:solidFill>
            <a:srgbClr val="E67E22">
              <a:alpha val="12000"/>
            </a:srgbClr>
          </a:solidFill>
          <a:ln w="63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47472" y="398678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3922776"/>
            <a:ext cx="6492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423160" y="398678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Dalc, Walc, goout, activities, romantic, internet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352544"/>
            <a:ext cx="1920240" cy="365760"/>
          </a:xfrm>
          <a:prstGeom prst="rect">
            <a:avLst/>
          </a:prstGeom>
          <a:solidFill>
            <a:srgbClr val="E8735A">
              <a:alpha val="12000"/>
            </a:srgbClr>
          </a:solidFill>
          <a:ln w="635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47472" y="44165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331720" y="4352544"/>
            <a:ext cx="6492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423160" y="441655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(Period 1),  G2 (Period 2),  G3 (Final Grade)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Data Preprocessing &amp; Cleaning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206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978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4632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with sep=None, engine='python'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1682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separator (CSV format safe)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2062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350008"/>
            <a:ext cx="438912" cy="43891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" y="2322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" y="2734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33 columns — Zero missing values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" y="3026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→ median fill  |  Categorical → mode fill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55701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557016"/>
            <a:ext cx="4206240" cy="6400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694176"/>
            <a:ext cx="438912" cy="438912"/>
          </a:xfrm>
          <a:prstGeom prst="ellipse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" y="36667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Check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dtypes: int, float, object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grade columns confirmed as numeric (0–20)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6A5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868680"/>
            <a:ext cx="4206240" cy="64008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1005840"/>
            <a:ext cx="438912" cy="438912"/>
          </a:xfrm>
          <a:prstGeom prst="ellipse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1005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76672" y="978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19472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(yes/no) → 1/0  |  sex F/M → 0/1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1682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(Mjob, Fjob) → one-hot encoding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21284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2212848"/>
            <a:ext cx="42062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46320" y="2350008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4632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76672" y="2322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19472" y="2734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∈ [0,20]  |  studytime ∈ [1,4]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19472" y="3026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Medu/Fedu ∈ [0,4]  |  Dalc/Walc ∈ [1,5]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55701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3557016"/>
            <a:ext cx="4206240" cy="6400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846320" y="3694176"/>
            <a:ext cx="438912" cy="438912"/>
          </a:xfrm>
          <a:prstGeom prst="ellipse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4632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76672" y="36667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Removal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919472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Q1 − 1.5×IQR  /  Q3 + 1.5×IQR (Tukey fences)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19472" y="4370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395 → 374 rows  |  Por: 649 → 621 rows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65760" y="481888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student-mat-clean.csv  &amp;  student-por-clean.csv  saved to  data/  directory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5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1645920"/>
            <a:ext cx="8979408" cy="192024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Study Time vs Academic Performance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more study time lead to better grades?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6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Study Time vs G3 — Analysis &amp;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29968" cy="100584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20299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G3 = 9.5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96312" y="804672"/>
            <a:ext cx="202996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96312" y="841248"/>
            <a:ext cx="20299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hrs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G3 = 10.8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72584" y="804672"/>
            <a:ext cx="2029968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72584" y="841248"/>
            <a:ext cx="20299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hrs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G3 = 11.9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48856" y="804672"/>
            <a:ext cx="202996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48856" y="841248"/>
            <a:ext cx="20299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hrs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G3 = 12.4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8503920" cy="32004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947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generated: task2_studytime_vs_grades.png  (Scatter Plot · Boxplot · Mean Bar Chart)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416052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359152"/>
            <a:ext cx="64008" cy="2487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2816352"/>
            <a:ext cx="390448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F-statistic significant at α=0.05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= +0.25 (positive correlation)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&gt;10hrs achieves highest mean G3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 → Reject H0 (study time affects grades)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359152"/>
            <a:ext cx="4160520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2359152"/>
            <a:ext cx="64008" cy="2487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24505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2816352"/>
            <a:ext cx="390448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study time consistently → higher mean G3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studying &gt;10hrs score ~30% more than &lt;2hrs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grades rise steadily with study time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alone doesn't guarantee top grades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7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C00AF-0962-C4E4-C243-8A60E1FB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791A59-6ED3-C06E-D73D-D684FA913D3D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80F05E-47E5-3D57-BF3B-7A9F7BF202B3}"/>
              </a:ext>
            </a:extLst>
          </p:cNvPr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76ED30-2C79-01C4-459A-05970765149E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Study Time vs G3 — Analysis &amp; Insights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D85E79C-15CA-5A35-37BC-7858E6C5D14F}"/>
              </a:ext>
            </a:extLst>
          </p:cNvPr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7 / 20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50FC205-FFDB-C1E5-1A45-4D4B234A9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70" y="754380"/>
            <a:ext cx="8412480" cy="378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8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1645920"/>
            <a:ext cx="8979408" cy="1920240"/>
          </a:xfrm>
          <a:prstGeom prst="rect">
            <a:avLst/>
          </a:prstGeom>
          <a:solidFill>
            <a:srgbClr val="238B45">
              <a:alpha val="15000"/>
            </a:srgbClr>
          </a:solidFill>
          <a:ln w="12700">
            <a:solidFill>
              <a:srgbClr val="238B4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Parental Education Impact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family education background shape student grades?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8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Parental Education vs Student Grades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85032" y="2651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822960"/>
            <a:ext cx="0" cy="3840480"/>
          </a:xfrm>
          <a:prstGeom prst="line">
            <a:avLst/>
          </a:prstGeom>
          <a:noFill/>
          <a:ln w="6350">
            <a:solidFill>
              <a:srgbClr val="E8EDF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0040" y="2944368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0040" y="2944368"/>
            <a:ext cx="64008" cy="1920240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720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Education (ANOVA)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4632" y="3401568"/>
            <a:ext cx="3904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 significant — p &lt; 0.05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Medu → consistently higher G3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Medu=4 students score 2.9 pts above Medu=0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positive and significant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2944368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663440" y="2944368"/>
            <a:ext cx="64008" cy="1920240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0060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Education (ANOVA)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28032" y="3401568"/>
            <a:ext cx="3904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 significant — p &lt; 0.05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trend as Mother's education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parental education magnifies effect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education = strong background factor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9 / 20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980887C-5130-8A1F-A20D-6419154FEA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008"/>
          <a:stretch>
            <a:fillRect/>
          </a:stretch>
        </p:blipFill>
        <p:spPr>
          <a:xfrm>
            <a:off x="694583" y="654008"/>
            <a:ext cx="7571954" cy="22309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B91FA-8DD8-3BD2-7FBD-F0AC05F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91C343-6B06-72BB-8255-A0E5AAEC2CF0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845EFE-8EDA-F1A1-A488-6395CE0DBA21}"/>
              </a:ext>
            </a:extLst>
          </p:cNvPr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E12A6D-2D16-D396-9F48-AFB6C176F4A4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Parental Education vs Student Grades</a:t>
            </a:r>
            <a:endParaRPr lang="en-US" sz="2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AC8A50B-7DAC-473F-46C0-7CC05589E941}"/>
              </a:ext>
            </a:extLst>
          </p:cNvPr>
          <p:cNvSpPr/>
          <p:nvPr/>
        </p:nvSpPr>
        <p:spPr>
          <a:xfrm>
            <a:off x="3685032" y="2651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901B76C-DF90-AA5F-50DA-D07418A7671A}"/>
              </a:ext>
            </a:extLst>
          </p:cNvPr>
          <p:cNvSpPr/>
          <p:nvPr/>
        </p:nvSpPr>
        <p:spPr>
          <a:xfrm>
            <a:off x="4572000" y="822960"/>
            <a:ext cx="0" cy="3840480"/>
          </a:xfrm>
          <a:prstGeom prst="line">
            <a:avLst/>
          </a:prstGeom>
          <a:noFill/>
          <a:ln w="6350">
            <a:solidFill>
              <a:srgbClr val="E8EDF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5BD2995-A93F-F3E9-6BC7-1C99682F44FB}"/>
              </a:ext>
            </a:extLst>
          </p:cNvPr>
          <p:cNvSpPr/>
          <p:nvPr/>
        </p:nvSpPr>
        <p:spPr>
          <a:xfrm>
            <a:off x="320040" y="2944368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44F787B-838B-C6DF-3B9C-38172819323F}"/>
              </a:ext>
            </a:extLst>
          </p:cNvPr>
          <p:cNvSpPr/>
          <p:nvPr/>
        </p:nvSpPr>
        <p:spPr>
          <a:xfrm>
            <a:off x="320040" y="2944368"/>
            <a:ext cx="64008" cy="1920240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47430F9-113E-0F7B-99B3-B5CB6CA1F66C}"/>
              </a:ext>
            </a:extLst>
          </p:cNvPr>
          <p:cNvSpPr/>
          <p:nvPr/>
        </p:nvSpPr>
        <p:spPr>
          <a:xfrm>
            <a:off x="45720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Education (ANOVA)</a:t>
            </a:r>
            <a:endParaRPr lang="en-US" sz="13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187D60F-58AB-4808-92DB-244EDA04D3D5}"/>
              </a:ext>
            </a:extLst>
          </p:cNvPr>
          <p:cNvSpPr/>
          <p:nvPr/>
        </p:nvSpPr>
        <p:spPr>
          <a:xfrm>
            <a:off x="484632" y="3401568"/>
            <a:ext cx="3904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 significant — p &lt; 0.05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Medu → consistently higher G3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Medu=4 students score 2.9 pts above Medu=0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positive and significant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2909C88-2CE6-53FB-EA87-0224A2C86841}"/>
              </a:ext>
            </a:extLst>
          </p:cNvPr>
          <p:cNvSpPr/>
          <p:nvPr/>
        </p:nvSpPr>
        <p:spPr>
          <a:xfrm>
            <a:off x="4663440" y="2944368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AA48837-20A9-A369-698F-E5ED1E57ED11}"/>
              </a:ext>
            </a:extLst>
          </p:cNvPr>
          <p:cNvSpPr/>
          <p:nvPr/>
        </p:nvSpPr>
        <p:spPr>
          <a:xfrm>
            <a:off x="4663440" y="2944368"/>
            <a:ext cx="64008" cy="1920240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8B88C0A-CD14-6CB9-B448-DF63211E8E1D}"/>
              </a:ext>
            </a:extLst>
          </p:cNvPr>
          <p:cNvSpPr/>
          <p:nvPr/>
        </p:nvSpPr>
        <p:spPr>
          <a:xfrm>
            <a:off x="480060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Education (ANOVA)</a:t>
            </a:r>
            <a:endParaRPr lang="en-US" sz="13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7AAE057-02DE-0E86-6C3A-47E9A6E04317}"/>
              </a:ext>
            </a:extLst>
          </p:cNvPr>
          <p:cNvSpPr/>
          <p:nvPr/>
        </p:nvSpPr>
        <p:spPr>
          <a:xfrm>
            <a:off x="4828032" y="3401568"/>
            <a:ext cx="3904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 significant — p &lt; 0.05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trend as Mother's education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parental education magnifies effect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education = strong background factor</a:t>
            </a:r>
            <a:endParaRPr lang="en-US" sz="11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3DE04AF-4DE9-1A04-BD97-AF1C31203DC0}"/>
              </a:ext>
            </a:extLst>
          </p:cNvPr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9 / 20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99A8029-2C6C-ABED-A499-092E2AEC54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701" b="4542"/>
          <a:stretch>
            <a:fillRect/>
          </a:stretch>
        </p:blipFill>
        <p:spPr>
          <a:xfrm>
            <a:off x="694583" y="795528"/>
            <a:ext cx="7571954" cy="208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2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1645920"/>
            <a:ext cx="8979408" cy="1920240"/>
          </a:xfrm>
          <a:prstGeom prst="rect">
            <a:avLst/>
          </a:prstGeom>
          <a:solidFill>
            <a:srgbClr val="E8735A">
              <a:alpha val="15000"/>
            </a:srgbClr>
          </a:solidFill>
          <a:ln w="12700">
            <a:solidFill>
              <a:srgbClr val="E8735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Gender-Based Performance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performance gap between male and female students?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10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Gender-Based Academic Performance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503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(Period 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1207008" cy="777240"/>
          </a:xfrm>
          <a:prstGeom prst="rect">
            <a:avLst/>
          </a:prstGeom>
          <a:noFill/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719072" y="1261872"/>
            <a:ext cx="1207008" cy="777240"/>
          </a:xfrm>
          <a:prstGeom prst="rect">
            <a:avLst/>
          </a:prstGeom>
          <a:noFill/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10.9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9072" y="1261872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10.8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54680" y="8503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(Period 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261872"/>
            <a:ext cx="1207008" cy="777240"/>
          </a:xfrm>
          <a:prstGeom prst="rect">
            <a:avLst/>
          </a:prstGeom>
          <a:noFill/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53712" y="1261872"/>
            <a:ext cx="1207008" cy="777240"/>
          </a:xfrm>
          <a:prstGeom prst="rect">
            <a:avLst/>
          </a:prstGeom>
          <a:noFill/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46120" y="1261872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11.2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53712" y="1261872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11.0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8229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89320" y="8503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261872"/>
            <a:ext cx="1207008" cy="777240"/>
          </a:xfrm>
          <a:prstGeom prst="rect">
            <a:avLst/>
          </a:prstGeom>
          <a:noFill/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88352" y="1261872"/>
            <a:ext cx="1207008" cy="777240"/>
          </a:xfrm>
          <a:prstGeom prst="rect">
            <a:avLst/>
          </a:prstGeom>
          <a:noFill/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80760" y="1261872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11.4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88352" y="1261872"/>
            <a:ext cx="1207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10.9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040" y="2286000"/>
            <a:ext cx="850392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students score marginally higher across all periods — difference is statistically tested below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697480"/>
            <a:ext cx="274320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2697480"/>
            <a:ext cx="64008" cy="217627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Results (H2)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" y="3154680"/>
            <a:ext cx="24871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 t-test applied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compared at α = 0.05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H0: No difference in mean G3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Minimal statistically sig. difference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697480"/>
            <a:ext cx="274320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46120" y="2697480"/>
            <a:ext cx="64008" cy="2176272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8328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10712" y="3154680"/>
            <a:ext cx="24871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small effect size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|d| &lt; 0.5 → minimal practical difference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alone is weak predictor of G3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factors dominate performance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2697480"/>
            <a:ext cx="2377440" cy="21762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172200" y="2697480"/>
            <a:ext cx="64008" cy="21762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093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Insight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36792" y="3154680"/>
            <a:ext cx="212140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curves overlap greatly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genders show similar G3 spread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slightly left-skewed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more uniform distribution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11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72414-8D69-7F1B-5E5B-99CFD849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436730-8745-4E83-7555-901754F6585C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512362-C26E-0743-A401-F116A8F47D78}"/>
              </a:ext>
            </a:extLst>
          </p:cNvPr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180AB4-F634-7AB2-FBCD-B1A0B948ACEA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Gender-Based Academic Performance</a:t>
            </a:r>
            <a:endParaRPr lang="en-US" sz="24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40778F8-81B8-2596-43DB-FD852380CAE3}"/>
              </a:ext>
            </a:extLst>
          </p:cNvPr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11 / 20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47984E1-759A-BCDB-20E8-3DCED8DCC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939" y="812340"/>
            <a:ext cx="6272122" cy="406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40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1645920"/>
            <a:ext cx="8979408" cy="1920240"/>
          </a:xfrm>
          <a:prstGeom prst="rect">
            <a:avLst/>
          </a:prstGeom>
          <a:solidFill>
            <a:srgbClr val="6A51A3">
              <a:alpha val="15000"/>
            </a:srgbClr>
          </a:solidFill>
          <a:ln w="12700">
            <a:solidFill>
              <a:srgbClr val="6A51A3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Correlation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are the strongest predictors of G3?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12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·  Correlation Analysis — Heatmap &amp; Pairplot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321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681228"/>
            <a:ext cx="2743200" cy="347472"/>
          </a:xfrm>
          <a:prstGeom prst="rect">
            <a:avLst/>
          </a:prstGeom>
          <a:solidFill>
            <a:srgbClr val="6A51A3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7360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Pair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681228"/>
            <a:ext cx="1371600" cy="347472"/>
          </a:xfrm>
          <a:prstGeom prst="rect">
            <a:avLst/>
          </a:prstGeom>
          <a:solidFill>
            <a:srgbClr val="6A51A3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46120" y="7360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681228"/>
            <a:ext cx="1645920" cy="347472"/>
          </a:xfrm>
          <a:prstGeom prst="rect">
            <a:avLst/>
          </a:prstGeom>
          <a:solidFill>
            <a:srgbClr val="6A51A3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7360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681228"/>
            <a:ext cx="1463040" cy="347472"/>
          </a:xfrm>
          <a:prstGeom prst="rect">
            <a:avLst/>
          </a:prstGeom>
          <a:solidFill>
            <a:srgbClr val="6A51A3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46520" y="7360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065276"/>
            <a:ext cx="274320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11201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→ G3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065276"/>
            <a:ext cx="137160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46120" y="11201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65276"/>
            <a:ext cx="164592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09160" y="11201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065276"/>
            <a:ext cx="146304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11201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1449324"/>
            <a:ext cx="274320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15041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→ G3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1449324"/>
            <a:ext cx="137160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46120" y="15041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449324"/>
            <a:ext cx="164592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9160" y="15041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1449324"/>
            <a:ext cx="146304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46520" y="15041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1833372"/>
            <a:ext cx="274320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18882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→ G2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1833372"/>
            <a:ext cx="137160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46120" y="18882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1833372"/>
            <a:ext cx="164592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09160" y="18882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1833372"/>
            <a:ext cx="1463040" cy="347472"/>
          </a:xfrm>
          <a:prstGeom prst="rect">
            <a:avLst/>
          </a:prstGeom>
          <a:solidFill>
            <a:srgbClr val="EDE8F8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46520" y="18882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2217420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11480" y="22722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studytime → G3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0" y="221742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46120" y="22722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221742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09160" y="22722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0" y="221742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46520" y="22722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260146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11480" y="26563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→ G3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260146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46120" y="26563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~−0.36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663440" y="260146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09160" y="26563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400800" y="260146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446520" y="26563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298551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11480" y="30403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→ G3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00400" y="298551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246120" y="30403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~−0.09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63440" y="29855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709160" y="30403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0" y="298551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446520" y="30403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65760" y="336956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11480" y="34244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 → G3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200400" y="336956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246120" y="34244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~0.22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663440" y="336956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709160" y="34244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400800" y="336956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446520" y="34244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65760" y="378104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11480" y="38359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Dalc → G3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200400" y="378104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246120" y="38359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~−0.18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663440" y="378104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709160" y="38359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400800" y="378104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C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446520" y="38359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20040" y="4293108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326136" y="4288536"/>
            <a:ext cx="64008" cy="621792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57200" y="424281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411480" y="4663440"/>
            <a:ext cx="8247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G2 are by far the strongest predictors of G3 (r &gt; 0.8). Past academic performance is the best indicator of future results. Study habits, family background, and lifestyle show weaker but meaningful correlations.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13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9F108-1F2F-4164-EA61-C62D7C79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E5D17F-7345-A109-7E72-7153347B7A54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A602FA-03A1-D8A6-EB13-79B7D6A5226F}"/>
              </a:ext>
            </a:extLst>
          </p:cNvPr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A6D9AE-5218-E867-E45A-A41BD0A044EA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·  Correlation Analysis — Heatmap &amp; Pairplot</a:t>
            </a:r>
            <a:endParaRPr lang="en-US" sz="24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3277FFD6-8919-FE2C-369E-33D56F777445}"/>
              </a:ext>
            </a:extLst>
          </p:cNvPr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13 / 20</a:t>
            </a:r>
            <a:endParaRPr lang="en-US" sz="90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01690812-149B-7224-4BA4-BEE04EACE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6" y="754380"/>
            <a:ext cx="4959736" cy="410398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22945AD0-249F-D29F-B14C-B785E5384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845" y="3454535"/>
            <a:ext cx="3352398" cy="1403831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5A8E5EBE-EA00-17F7-ADC7-4C83147E3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847" y="730366"/>
            <a:ext cx="3352396" cy="259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11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164592" y="1645920"/>
            <a:ext cx="8979408" cy="192024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Lifestyle Impact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alcohol, social habits and activities affect grades?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14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048" y="5029200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Lifestyle Factors vs Academic Performance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Alcohol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(Dalc)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with G3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Dalc → Lower mean grade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shows ~2 pts drop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8229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27832" y="822960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19272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Alcohol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(Walc)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negative effect than Dalc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9272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drinking impacts study 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20665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levels less harmful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82296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35624" y="822960"/>
            <a:ext cx="274320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27064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Activities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(Goout)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27064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goout → slightly lower G3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27064" y="17190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key — social ≠ academic fail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27064" y="20665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outings most harmful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291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→ marginal grade boost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6393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resources aids learning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9867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small (confounded)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27832" y="274320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27832" y="2743200"/>
            <a:ext cx="2743200" cy="6400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19272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Extracurriculars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(Activities)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19272" y="3291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effect — slight positive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9272" y="36393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activities help time mgmt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9272" y="39867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statistical effect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35624" y="274320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35624" y="2743200"/>
            <a:ext cx="2743200" cy="6400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27064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 Relations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27064" y="3291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with G3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27064" y="36393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relationships score slightly lower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27064" y="39867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is small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15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74657-04D7-9DE6-77C9-234A03B03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994A96-0709-85CF-A558-98867A06C717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797775-B5DB-613D-5173-F10A0F3F769F}"/>
              </a:ext>
            </a:extLst>
          </p:cNvPr>
          <p:cNvSpPr/>
          <p:nvPr/>
        </p:nvSpPr>
        <p:spPr>
          <a:xfrm>
            <a:off x="3048" y="5029200"/>
            <a:ext cx="91440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783F77-FBFE-FCE9-8599-2ADF00A7005F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·  Lifestyle Factors vs Academic Performance</a:t>
            </a:r>
            <a:endParaRPr lang="en-US" sz="2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EB241A6-1527-3685-00EA-1B7129651C35}"/>
              </a:ext>
            </a:extLst>
          </p:cNvPr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15 / 20</a:t>
            </a: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7D612CE-E6A3-3B47-ADE8-CFC70668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33" y="809424"/>
            <a:ext cx="2952295" cy="162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70A54EF-B536-C7F6-809E-F8734414F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33" y="2677680"/>
            <a:ext cx="3279781" cy="162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6974A62-C4D3-717D-B6A7-586D8B254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335" y="795528"/>
            <a:ext cx="2952295" cy="162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AC366A6-ED0C-B084-F3C1-CDC9EB8C2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13" y="2663784"/>
            <a:ext cx="2790124" cy="1620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3243647-C480-DB05-A448-76837EDD6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25" y="795528"/>
            <a:ext cx="2623913" cy="1620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39D37C2-268E-E28D-AF56-30FCAC4AC5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4449" y="2677680"/>
            <a:ext cx="2620329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86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1645920"/>
            <a:ext cx="8979408" cy="192024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— Statistical Hypothesis Testing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findings with ANOVA, t-tests &amp; Spearman correlation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16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 ·  Hypothesis Testing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029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significantly affects G3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One-way ANOVA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F-stat &gt; critical value, p &lt; 0.05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042416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104241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REJECTED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has a significant effect on G3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85623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1856232"/>
            <a:ext cx="502920" cy="91440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1122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911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G3 difference between genders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295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Independent t-test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2496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 ≈ 0.05 (borderline)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0574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PARTIALLY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112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present gender-linked difference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871216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2871216"/>
            <a:ext cx="502920" cy="914400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1272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 affects G3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310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One-way ANOVA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35112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F-stat significant, p &lt; 0.05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072384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307238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REJECTED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education level significantly impacts G3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8862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20040" y="3886200"/>
            <a:ext cx="5029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0040" y="41422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39410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consumption negatively correlates with G3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4325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Spearman Correlation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14400" y="4526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ρ = negative, p &lt; 0.05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4087368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46320" y="4087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REJECTED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4142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alcohol use linked to lower G3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17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5C98C-5B47-7C2C-BA1D-02EBF556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CDD81A-0E81-6170-27D2-2EA05DBA68F7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F9640D-F68E-6705-3862-FFB57F055A80}"/>
              </a:ext>
            </a:extLst>
          </p:cNvPr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1593A9-C6DE-1DDA-5928-B870C0AB5DF7}"/>
              </a:ext>
            </a:extLst>
          </p:cNvPr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 ·  Hypothesis Testing Results</a:t>
            </a:r>
            <a:endParaRPr lang="en-US" sz="2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A1A7611-B510-CAFA-70D8-F53E6D8506BF}"/>
              </a:ext>
            </a:extLst>
          </p:cNvPr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17 / 20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3FEAFF4-0A5E-CD97-8893-97CB1EDDF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54380"/>
            <a:ext cx="4458711" cy="24399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5DCC09C-6CCA-C342-6031-E95BCE66C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129" y="2422332"/>
            <a:ext cx="40705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27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Expected Conclusions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206240" cy="1234440"/>
          </a:xfrm>
          <a:prstGeom prst="rect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6400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29768" y="95097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976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9326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31673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linear relationship with G3. Students studying &gt;10hrs/week consistently achieve higher grades.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841248"/>
            <a:ext cx="4206240" cy="1234440"/>
          </a:xfrm>
          <a:prstGeom prst="rect">
            <a:avLst/>
          </a:prstGeom>
          <a:solidFill>
            <a:srgbClr val="238B45">
              <a:alpha val="8000"/>
            </a:srgbClr>
          </a:solidFill>
          <a:ln w="1270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64008" cy="1234440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64608" y="950976"/>
            <a:ext cx="365760" cy="365760"/>
          </a:xfrm>
          <a:prstGeom prst="ellipse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64608" y="950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21808" y="9326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8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31673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highly educated parents score measurably higher. Family background is a significant predictor.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06240" cy="1234440"/>
          </a:xfrm>
          <a:prstGeom prst="rect">
            <a:avLst/>
          </a:prstGeom>
          <a:solidFill>
            <a:srgbClr val="E8735A">
              <a:alpha val="8000"/>
            </a:srgbClr>
          </a:solidFill>
          <a:ln w="12700">
            <a:solidFill>
              <a:srgbClr val="E87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2231136"/>
            <a:ext cx="64008" cy="123444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9768" y="2340864"/>
            <a:ext cx="365760" cy="365760"/>
          </a:xfrm>
          <a:prstGeom prst="ellipse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29768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23225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270662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but present. Females score slightly higher in G3. Gender alone is a weak predictor — other factors dominate.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231136"/>
            <a:ext cx="4206240" cy="1234440"/>
          </a:xfrm>
          <a:prstGeom prst="rect">
            <a:avLst/>
          </a:prstGeom>
          <a:solidFill>
            <a:srgbClr val="6A51A3">
              <a:alpha val="8000"/>
            </a:srgbClr>
          </a:solidFill>
          <a:ln w="12700">
            <a:solidFill>
              <a:srgbClr val="6A5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54880" y="2231136"/>
            <a:ext cx="64008" cy="1234440"/>
          </a:xfrm>
          <a:prstGeom prst="rect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64608" y="2340864"/>
            <a:ext cx="365760" cy="365760"/>
          </a:xfrm>
          <a:prstGeom prst="ellipse">
            <a:avLst/>
          </a:prstGeom>
          <a:solidFill>
            <a:srgbClr val="6A51A3"/>
          </a:solidFill>
          <a:ln w="12700">
            <a:solidFill>
              <a:srgbClr val="6A51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64608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3225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Grades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270662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G2 are the strongest predictors of G3 (r &gt; 0.85). Prior academic performance is the best success indicator.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06240" cy="1234440"/>
          </a:xfrm>
          <a:prstGeom prst="rect">
            <a:avLst/>
          </a:prstGeom>
          <a:solidFill>
            <a:srgbClr val="E67E22">
              <a:alpha val="8000"/>
            </a:srgbClr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" y="3621024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29768" y="3730752"/>
            <a:ext cx="365760" cy="3657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976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" y="40965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consumption (Dalc/Walc) negatively correlates with G3. Social activities show moderate negative impact.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621024"/>
            <a:ext cx="4206240" cy="1234440"/>
          </a:xfrm>
          <a:prstGeom prst="rect">
            <a:avLst/>
          </a:prstGeom>
          <a:solidFill>
            <a:srgbClr val="C0392B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54880" y="3621024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64608" y="3730752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646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Profile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409651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studytime + high failures + high absences + high Dalc = high-risk student profile for early intervention.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18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Educators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9768" y="9235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Study Habits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40050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structured study schedules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peer study groups &amp; time management sessions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studytime via student journals or apps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8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4206240" cy="38404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9235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Low Parental Education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98448"/>
            <a:ext cx="40050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mentoring programs for first-gen students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engagement workshops to bridge education gap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academic resources for disadvantaged families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42062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" y="29535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for At-Risk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328416"/>
            <a:ext cx="40050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G1/G2 scores to flag underperforming students early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sessions for students with high failure rates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tutoring before G3 assessment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71216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871216"/>
            <a:ext cx="420624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9535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Awareness Programs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28416"/>
            <a:ext cx="40050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campaigns on alcohol's impact on academics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programs for social vs study activities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extracurriculars with academic accountability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983480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19 / 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2BB2B-27EB-A6F8-8A99-07E63E9A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6D9FB3-AE9D-09E4-1B7E-7386AB117F7E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27D1F7-3209-D77E-384B-FB9E2692BE07}"/>
              </a:ext>
            </a:extLst>
          </p:cNvPr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3918B7-BDF2-36B2-D60D-BF4CE35940DC}"/>
              </a:ext>
            </a:extLst>
          </p:cNvPr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E75B6">
              <a:alpha val="10000"/>
            </a:srgbClr>
          </a:solidFill>
          <a:ln w="12700">
            <a:solidFill>
              <a:srgbClr val="2E75B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C18042-7789-F7A3-677E-04AA5F0FFB70}"/>
              </a:ext>
            </a:extLst>
          </p:cNvPr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40E6226-1A7C-5009-4758-45C04BFE9033}"/>
              </a:ext>
            </a:extLst>
          </p:cNvPr>
          <p:cNvSpPr/>
          <p:nvPr/>
        </p:nvSpPr>
        <p:spPr>
          <a:xfrm>
            <a:off x="685800" y="186936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DASHBOARD</a:t>
            </a:r>
            <a:endParaRPr lang="en-US" sz="5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025B66-296F-BAD8-BBD6-F75F2F26325F}"/>
              </a:ext>
            </a:extLst>
          </p:cNvPr>
          <p:cNvSpPr/>
          <p:nvPr/>
        </p:nvSpPr>
        <p:spPr>
          <a:xfrm>
            <a:off x="2240280" y="2834640"/>
            <a:ext cx="4572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8C067D-5FAD-F4A1-EEF6-F63A449AECB0}"/>
              </a:ext>
            </a:extLst>
          </p:cNvPr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C5C4D0-D68F-C67D-F46F-91B32689562B}"/>
              </a:ext>
            </a:extLst>
          </p:cNvPr>
          <p:cNvSpPr/>
          <p:nvPr/>
        </p:nvSpPr>
        <p:spPr>
          <a:xfrm>
            <a:off x="731520" y="2852928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867557-CC8E-C271-22CA-9026A28A1BC8}"/>
              </a:ext>
            </a:extLst>
          </p:cNvPr>
          <p:cNvSpPr/>
          <p:nvPr/>
        </p:nvSpPr>
        <p:spPr>
          <a:xfrm>
            <a:off x="2743200" y="2852928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46A1D4-32C3-EDEE-46D8-F62C3448F9D7}"/>
              </a:ext>
            </a:extLst>
          </p:cNvPr>
          <p:cNvSpPr/>
          <p:nvPr/>
        </p:nvSpPr>
        <p:spPr>
          <a:xfrm>
            <a:off x="4754880" y="2852928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A752613-2704-2620-F010-2A16DCA6158C}"/>
              </a:ext>
            </a:extLst>
          </p:cNvPr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6189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E75B6">
              <a:alpha val="10000"/>
            </a:srgbClr>
          </a:solidFill>
          <a:ln w="12700">
            <a:solidFill>
              <a:srgbClr val="2E75B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212848"/>
            <a:ext cx="4572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·  UCI Dataset  ·  Python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783080" cy="13258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Tasks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2834640"/>
            <a:ext cx="1783080" cy="1325880"/>
          </a:xfrm>
          <a:prstGeom prst="rect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0" y="2852928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Documents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1783080" cy="1325880"/>
          </a:xfrm>
          <a:prstGeom prst="rect">
            <a:avLst/>
          </a:prstGeom>
          <a:solidFill>
            <a:srgbClr val="238B45">
              <a:alpha val="20000"/>
            </a:srgbClr>
          </a:solidFill>
          <a:ln w="12700">
            <a:solidFill>
              <a:srgbClr val="238B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2852928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Charts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2834640"/>
            <a:ext cx="1783080" cy="132588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66560" y="2852928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Hypotheses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1817</Words>
  <Application>Microsoft Office PowerPoint</Application>
  <PresentationFormat>On-screen Show (16:9)</PresentationFormat>
  <Paragraphs>360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Bodoni MT Black</vt:lpstr>
      <vt:lpstr>Calibri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</dc:title>
  <dc:subject>PptxGenJS Presentation</dc:subject>
  <dc:creator>Student Performance Analysis Team</dc:creator>
  <cp:lastModifiedBy>Hariharan R</cp:lastModifiedBy>
  <cp:revision>3</cp:revision>
  <dcterms:created xsi:type="dcterms:W3CDTF">2026-04-08T08:02:36Z</dcterms:created>
  <dcterms:modified xsi:type="dcterms:W3CDTF">2026-04-08T19:19:25Z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2026-04-08T08:26:54Z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47c9fe89-cbe2-4e4a-a7a6-2c7b1f924568</vt:lpwstr>
  </property>
  <property fmtid="{D5CDD505-2E9C-101B-9397-08002B2CF9AE}" pid="7" name="MSIP_Label_defa4170-0d19-0005-0004-bc88714345d2_ActionId">
    <vt:lpwstr>99b54f4f-1597-41dc-b1c0-cf541404d4f2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